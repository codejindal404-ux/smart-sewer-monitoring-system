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48523C-E07B-4FB4-9CCA-258F401B5A90}" v="29" dt="2026-05-05T18:18:53.2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1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jindal" userId="51125255a472ac75" providerId="LiveId" clId="{B94BAFAE-A1E3-4393-A29A-D1319C2644C7}"/>
    <pc:docChg chg="modSld">
      <pc:chgData name="krish jindal" userId="51125255a472ac75" providerId="LiveId" clId="{B94BAFAE-A1E3-4393-A29A-D1319C2644C7}" dt="2026-05-06T04:25:22.924" v="1" actId="20577"/>
      <pc:docMkLst>
        <pc:docMk/>
      </pc:docMkLst>
      <pc:sldChg chg="modSp mod">
        <pc:chgData name="krish jindal" userId="51125255a472ac75" providerId="LiveId" clId="{B94BAFAE-A1E3-4393-A29A-D1319C2644C7}" dt="2026-05-06T04:25:22.924" v="1" actId="20577"/>
        <pc:sldMkLst>
          <pc:docMk/>
          <pc:sldMk cId="0" sldId="256"/>
        </pc:sldMkLst>
        <pc:spChg chg="mod">
          <ac:chgData name="krish jindal" userId="51125255a472ac75" providerId="LiveId" clId="{B94BAFAE-A1E3-4393-A29A-D1319C2644C7}" dt="2026-05-06T04:25:22.924" v="1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15" y="6696075"/>
            <a:ext cx="9134484" cy="1619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400" cy="63817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1924050" cy="609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200" y="228600"/>
            <a:ext cx="2057400" cy="6381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143625" y="0"/>
            <a:ext cx="3000375" cy="838200"/>
          </a:xfrm>
          <a:custGeom>
            <a:avLst/>
            <a:gdLst/>
            <a:ahLst/>
            <a:cxnLst/>
            <a:rect l="l" t="t" r="r" b="b"/>
            <a:pathLst>
              <a:path w="3000375" h="838200">
                <a:moveTo>
                  <a:pt x="3000375" y="0"/>
                </a:moveTo>
                <a:lnTo>
                  <a:pt x="0" y="0"/>
                </a:lnTo>
                <a:lnTo>
                  <a:pt x="0" y="838200"/>
                </a:lnTo>
                <a:lnTo>
                  <a:pt x="3000375" y="838200"/>
                </a:lnTo>
                <a:lnTo>
                  <a:pt x="300037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200" y="228600"/>
            <a:ext cx="2057400" cy="63817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6524625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1924050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845" y="112649"/>
            <a:ext cx="6161722" cy="520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286808"/>
            <a:ext cx="8043545" cy="421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575" y="6441747"/>
            <a:ext cx="683894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79866" y="6445890"/>
            <a:ext cx="166370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98219" y="1011237"/>
            <a:ext cx="6096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Integrated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Project–</a:t>
            </a:r>
            <a:r>
              <a:rPr sz="2400" dirty="0">
                <a:latin typeface="Arial"/>
                <a:cs typeface="Arial"/>
              </a:rPr>
              <a:t>II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|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Progress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Review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–</a:t>
            </a:r>
            <a:r>
              <a:rPr lang="en-IN" sz="2400" spc="-50" dirty="0">
                <a:latin typeface="Arial"/>
                <a:cs typeface="Arial"/>
              </a:rPr>
              <a:t>2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1954" y="5053181"/>
          <a:ext cx="6079490" cy="12103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7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535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Submitted</a:t>
                      </a:r>
                      <a:r>
                        <a:rPr sz="11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To: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Ms.</a:t>
                      </a:r>
                      <a:r>
                        <a:rPr sz="11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Shiwani</a:t>
                      </a: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Sharma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8070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Submitted</a:t>
                      </a:r>
                      <a:r>
                        <a:rPr sz="11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By: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80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Harpreet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Singh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(2411981229)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80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Ishpreet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Singh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(2411981250)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80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Krish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Jindal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(2411981287)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8070">
                        <a:lnSpc>
                          <a:spcPts val="1305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4.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Krish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Koundal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(2411981288)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09344" y="3741349"/>
            <a:ext cx="6864984" cy="71564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45085" algn="ctr">
              <a:lnSpc>
                <a:spcPct val="100000"/>
              </a:lnSpc>
              <a:spcBef>
                <a:spcPts val="265"/>
              </a:spcBef>
            </a:pPr>
            <a:r>
              <a:rPr sz="1800" b="1" dirty="0">
                <a:latin typeface="Arial"/>
                <a:cs typeface="Arial"/>
              </a:rPr>
              <a:t>Department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lang="en-US" b="1" spc="-45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omputer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Science &amp;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Engineering</a:t>
            </a:r>
            <a:endParaRPr sz="18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2400" b="1" spc="-10" dirty="0">
                <a:latin typeface="Arial"/>
                <a:cs typeface="Arial"/>
              </a:rPr>
              <a:t>CHITKARA</a:t>
            </a:r>
            <a:r>
              <a:rPr sz="2400" b="1" spc="-16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UNIVERSITY,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HIMACHAL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PRADESH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230" y="1731899"/>
            <a:ext cx="76733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210" dirty="0">
                <a:solidFill>
                  <a:srgbClr val="FF0000"/>
                </a:solidFill>
                <a:latin typeface="Trebuchet MS"/>
                <a:cs typeface="Trebuchet MS"/>
              </a:rPr>
              <a:t>IoT-</a:t>
            </a:r>
            <a:r>
              <a:rPr sz="2750" spc="-20" dirty="0">
                <a:solidFill>
                  <a:srgbClr val="FF0000"/>
                </a:solidFill>
                <a:latin typeface="Trebuchet MS"/>
                <a:cs typeface="Trebuchet MS"/>
              </a:rPr>
              <a:t>Based</a:t>
            </a:r>
            <a:r>
              <a:rPr sz="2750" spc="-2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50" spc="-95" dirty="0">
                <a:solidFill>
                  <a:srgbClr val="FF0000"/>
                </a:solidFill>
                <a:latin typeface="Trebuchet MS"/>
                <a:cs typeface="Trebuchet MS"/>
              </a:rPr>
              <a:t>Smart</a:t>
            </a:r>
            <a:r>
              <a:rPr sz="2750" spc="-229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50" spc="-75" dirty="0">
                <a:solidFill>
                  <a:srgbClr val="FF0000"/>
                </a:solidFill>
                <a:latin typeface="Trebuchet MS"/>
                <a:cs typeface="Trebuchet MS"/>
              </a:rPr>
              <a:t>Sewer</a:t>
            </a:r>
            <a:r>
              <a:rPr sz="2750" spc="-2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50" spc="-114" dirty="0">
                <a:solidFill>
                  <a:srgbClr val="FF0000"/>
                </a:solidFill>
                <a:latin typeface="Trebuchet MS"/>
                <a:cs typeface="Trebuchet MS"/>
              </a:rPr>
              <a:t>Safety</a:t>
            </a:r>
            <a:r>
              <a:rPr sz="2750" spc="-2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50" spc="-11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275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50" spc="-120" dirty="0">
                <a:solidFill>
                  <a:srgbClr val="FF0000"/>
                </a:solidFill>
                <a:latin typeface="Trebuchet MS"/>
                <a:cs typeface="Trebuchet MS"/>
              </a:rPr>
              <a:t>Monitoring</a:t>
            </a:r>
            <a:r>
              <a:rPr sz="2750" spc="-2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Trebuchet MS"/>
                <a:cs typeface="Trebuchet MS"/>
              </a:rPr>
              <a:t>System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1606" y="2504406"/>
            <a:ext cx="2640787" cy="12293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86025">
              <a:lnSpc>
                <a:spcPct val="100000"/>
              </a:lnSpc>
              <a:spcBef>
                <a:spcPts val="105"/>
              </a:spcBef>
            </a:pPr>
            <a:r>
              <a:rPr sz="3000" spc="-10" dirty="0"/>
              <a:t>Agenda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288541"/>
            <a:ext cx="7225030" cy="47085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Project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Overview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3200" dirty="0"/>
              <a:t>Requirements &amp; Data Collection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Phase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Development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Kickoff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SDG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Goals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Mapping</a:t>
            </a:r>
            <a:endParaRPr sz="3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dirty="0">
                <a:latin typeface="Calibri"/>
                <a:cs typeface="Calibri"/>
              </a:rPr>
              <a:t>Multidisciplinary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Approach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Novelty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Factor</a:t>
            </a:r>
            <a:endParaRPr sz="3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dirty="0">
                <a:latin typeface="Calibri"/>
                <a:cs typeface="Calibri"/>
              </a:rPr>
              <a:t>Challenges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Risks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2125">
              <a:lnSpc>
                <a:spcPct val="100000"/>
              </a:lnSpc>
              <a:spcBef>
                <a:spcPts val="105"/>
              </a:spcBef>
            </a:pPr>
            <a:r>
              <a:rPr sz="3000" b="0" dirty="0">
                <a:latin typeface="Calibri"/>
                <a:cs typeface="Calibri"/>
              </a:rPr>
              <a:t>Project</a:t>
            </a:r>
            <a:r>
              <a:rPr sz="3000" b="0" spc="-80" dirty="0">
                <a:latin typeface="Calibri"/>
                <a:cs typeface="Calibri"/>
              </a:rPr>
              <a:t> </a:t>
            </a:r>
            <a:r>
              <a:rPr sz="3000" b="0" spc="-10" dirty="0">
                <a:latin typeface="Calibri"/>
                <a:cs typeface="Calibri"/>
              </a:rPr>
              <a:t>Overview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6835" y="777430"/>
            <a:ext cx="9087485" cy="55962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150" b="1" dirty="0">
                <a:latin typeface="Calibri"/>
                <a:cs typeface="Calibri"/>
              </a:rPr>
              <a:t>Problem</a:t>
            </a:r>
            <a:r>
              <a:rPr sz="2150" b="1" spc="11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statement: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Sewer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blockage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causes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flooding.</a:t>
            </a:r>
            <a:endParaRPr sz="2150" dirty="0">
              <a:latin typeface="Calibri"/>
              <a:cs typeface="Calibri"/>
            </a:endParaRPr>
          </a:p>
          <a:p>
            <a:pPr marL="431800" indent="-419100">
              <a:lnSpc>
                <a:spcPct val="100000"/>
              </a:lnSpc>
              <a:spcBef>
                <a:spcPts val="575"/>
              </a:spcBef>
              <a:buChar char="•"/>
              <a:tabLst>
                <a:tab pos="431800" algn="l"/>
              </a:tabLst>
            </a:pPr>
            <a:r>
              <a:rPr sz="2150" dirty="0">
                <a:latin typeface="Calibri"/>
                <a:cs typeface="Calibri"/>
              </a:rPr>
              <a:t>Harmful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like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Methane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(CH₄)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Hydrogen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Sulfide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(H₂S)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dangerous</a:t>
            </a:r>
            <a:endParaRPr sz="2150" dirty="0">
              <a:latin typeface="Calibri"/>
              <a:cs typeface="Calibri"/>
            </a:endParaRPr>
          </a:p>
          <a:p>
            <a:pPr marL="431800" indent="-419100">
              <a:lnSpc>
                <a:spcPct val="100000"/>
              </a:lnSpc>
              <a:spcBef>
                <a:spcPts val="570"/>
              </a:spcBef>
              <a:buChar char="•"/>
              <a:tabLst>
                <a:tab pos="431800" algn="l"/>
              </a:tabLst>
            </a:pPr>
            <a:r>
              <a:rPr sz="2150" dirty="0">
                <a:latin typeface="Calibri"/>
                <a:cs typeface="Calibri"/>
              </a:rPr>
              <a:t>Workers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face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life-</a:t>
            </a:r>
            <a:r>
              <a:rPr sz="2150" dirty="0">
                <a:latin typeface="Calibri"/>
                <a:cs typeface="Calibri"/>
              </a:rPr>
              <a:t>threatening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risks.</a:t>
            </a:r>
            <a:endParaRPr sz="2150" dirty="0">
              <a:latin typeface="Calibri"/>
              <a:cs typeface="Calibri"/>
            </a:endParaRPr>
          </a:p>
          <a:p>
            <a:pPr marL="12700" marR="43180">
              <a:lnSpc>
                <a:spcPct val="101899"/>
              </a:lnSpc>
              <a:spcBef>
                <a:spcPts val="605"/>
              </a:spcBef>
            </a:pPr>
            <a:r>
              <a:rPr sz="2150" b="1" dirty="0">
                <a:latin typeface="Calibri"/>
                <a:cs typeface="Calibri"/>
              </a:rPr>
              <a:t>Objective</a:t>
            </a:r>
            <a:r>
              <a:rPr sz="2150" dirty="0">
                <a:latin typeface="Calibri"/>
                <a:cs typeface="Calibri"/>
              </a:rPr>
              <a:t>: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30" dirty="0">
                <a:latin typeface="Calibri"/>
                <a:cs typeface="Calibri"/>
              </a:rPr>
              <a:t>To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develop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IoT-based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drains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by </a:t>
            </a:r>
            <a:r>
              <a:rPr sz="2150" dirty="0">
                <a:latin typeface="Calibri"/>
                <a:cs typeface="Calibri"/>
              </a:rPr>
              <a:t>detecting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rise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harmful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sends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real-time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to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150" dirty="0">
                <a:latin typeface="Calibri"/>
                <a:cs typeface="Calibri"/>
              </a:rPr>
              <a:t>improve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safety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prevent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overflow.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50" b="1" spc="-10" dirty="0">
                <a:latin typeface="Calibri"/>
                <a:cs typeface="Calibri"/>
              </a:rPr>
              <a:t>Scope</a:t>
            </a:r>
            <a:r>
              <a:rPr sz="2150" spc="-10" dirty="0">
                <a:latin typeface="Calibri"/>
                <a:cs typeface="Calibri"/>
              </a:rPr>
              <a:t>:</a:t>
            </a:r>
            <a:endParaRPr sz="2150" dirty="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419100" algn="l"/>
              </a:tabLst>
            </a:pPr>
            <a:r>
              <a:rPr sz="2150" dirty="0">
                <a:latin typeface="Calibri"/>
                <a:cs typeface="Calibri"/>
              </a:rPr>
              <a:t>Real-time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harmful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gases.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Use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NodeMCU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collection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processing.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Sending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through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mobile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application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email</a:t>
            </a:r>
            <a:r>
              <a:rPr sz="2150" spc="1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notifications.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50" b="1" spc="-10" dirty="0">
                <a:latin typeface="Calibri"/>
                <a:cs typeface="Calibri"/>
              </a:rPr>
              <a:t>Stakeholders: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Municipal</a:t>
            </a:r>
            <a:r>
              <a:rPr sz="2150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Authorities</a:t>
            </a:r>
            <a:r>
              <a:rPr sz="2150" b="1" dirty="0">
                <a:latin typeface="Calibri"/>
                <a:cs typeface="Calibri"/>
              </a:rPr>
              <a:t>: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conditions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manage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drainage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work.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Sanitation</a:t>
            </a:r>
            <a:r>
              <a:rPr sz="2150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Workers</a:t>
            </a:r>
            <a:r>
              <a:rPr sz="2150" b="1" dirty="0">
                <a:latin typeface="Calibri"/>
                <a:cs typeface="Calibri"/>
              </a:rPr>
              <a:t>: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Benefit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from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improved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safety.</a:t>
            </a:r>
            <a:endParaRPr sz="2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2125">
              <a:lnSpc>
                <a:spcPct val="100000"/>
              </a:lnSpc>
              <a:spcBef>
                <a:spcPts val="105"/>
              </a:spcBef>
            </a:pPr>
            <a:r>
              <a:rPr sz="3000" b="0" dirty="0">
                <a:latin typeface="Calibri"/>
                <a:cs typeface="Calibri"/>
              </a:rPr>
              <a:t>Project</a:t>
            </a:r>
            <a:r>
              <a:rPr sz="3000" b="0" spc="-80" dirty="0">
                <a:latin typeface="Calibri"/>
                <a:cs typeface="Calibri"/>
              </a:rPr>
              <a:t> </a:t>
            </a:r>
            <a:r>
              <a:rPr sz="3000" b="0" spc="-10" dirty="0">
                <a:latin typeface="Calibri"/>
                <a:cs typeface="Calibri"/>
              </a:rPr>
              <a:t>Overview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76033"/>
            <a:ext cx="7704455" cy="535851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150" b="1" spc="-10" dirty="0">
                <a:latin typeface="Calibri"/>
                <a:cs typeface="Calibri"/>
              </a:rPr>
              <a:t>Timeline</a:t>
            </a:r>
            <a:r>
              <a:rPr sz="2150" spc="-10" dirty="0">
                <a:latin typeface="Calibri"/>
                <a:cs typeface="Calibri"/>
              </a:rPr>
              <a:t>: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150" b="1" dirty="0">
                <a:latin typeface="Calibri"/>
                <a:cs typeface="Calibri"/>
              </a:rPr>
              <a:t>Week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1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–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Problem</a:t>
            </a:r>
            <a:r>
              <a:rPr sz="2150" b="1" spc="8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Research</a:t>
            </a:r>
            <a:r>
              <a:rPr sz="2150" b="1" spc="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&amp;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Planning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Studied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problems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Identified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need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detection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150" b="1" dirty="0">
                <a:latin typeface="Calibri"/>
                <a:cs typeface="Calibri"/>
              </a:rPr>
              <a:t>Week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2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–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System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Design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Designed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architecture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Selected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components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(NodeMCU,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sensor,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sensor)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50" b="1" dirty="0">
                <a:latin typeface="Calibri"/>
                <a:cs typeface="Calibri"/>
              </a:rPr>
              <a:t>Week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3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–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Hardware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Setup</a:t>
            </a:r>
            <a:r>
              <a:rPr sz="2150" b="1" spc="1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&amp;</a:t>
            </a:r>
            <a:r>
              <a:rPr sz="2150" b="1" spc="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Sensor</a:t>
            </a:r>
            <a:r>
              <a:rPr sz="2150" b="1" spc="3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Testing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Connected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NodeMCU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spc="-10" dirty="0">
                <a:latin typeface="Calibri"/>
                <a:cs typeface="Calibri"/>
              </a:rPr>
              <a:t>Tested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distance/water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measurement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50" b="1" dirty="0">
                <a:latin typeface="Calibri"/>
                <a:cs typeface="Calibri"/>
              </a:rPr>
              <a:t>Week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4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–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Software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Development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(</a:t>
            </a:r>
            <a:r>
              <a:rPr lang="en-IN" sz="2000" dirty="0"/>
              <a:t>In Progress</a:t>
            </a:r>
            <a:r>
              <a:rPr sz="2150" b="1" spc="-10" dirty="0">
                <a:latin typeface="Calibri"/>
                <a:cs typeface="Calibri"/>
              </a:rPr>
              <a:t>)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Writing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Arduino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code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automation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Integrating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mobile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app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email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</a:t>
            </a:r>
            <a:endParaRPr sz="2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85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dirty="0"/>
              <a:t>Requirement</a:t>
            </a:r>
            <a:r>
              <a:rPr spc="95" dirty="0"/>
              <a:t> </a:t>
            </a:r>
            <a:r>
              <a:rPr dirty="0"/>
              <a:t>Gathering</a:t>
            </a:r>
            <a:r>
              <a:rPr spc="50" dirty="0"/>
              <a:t> </a:t>
            </a:r>
            <a:r>
              <a:rPr dirty="0"/>
              <a:t>&amp;</a:t>
            </a:r>
            <a:r>
              <a:rPr spc="80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spc="-10" dirty="0"/>
              <a:t>Collection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12102" y="1052380"/>
            <a:ext cx="7915909" cy="302450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750" b="1" dirty="0">
                <a:latin typeface="Calibri"/>
                <a:cs typeface="Calibri"/>
              </a:rPr>
              <a:t>Sources</a:t>
            </a:r>
            <a:r>
              <a:rPr sz="2750" b="1" spc="3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of</a:t>
            </a:r>
            <a:r>
              <a:rPr sz="2750" b="1" spc="110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Data</a:t>
            </a:r>
            <a:r>
              <a:rPr sz="2750" spc="-10" dirty="0">
                <a:latin typeface="Calibri"/>
                <a:cs typeface="Calibri"/>
              </a:rPr>
              <a:t>:</a:t>
            </a:r>
            <a:endParaRPr sz="2750">
              <a:latin typeface="Calibri"/>
              <a:cs typeface="Calibri"/>
            </a:endParaRPr>
          </a:p>
          <a:p>
            <a:pPr marL="756285" indent="-2857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756285" algn="l"/>
              </a:tabLst>
            </a:pPr>
            <a:r>
              <a:rPr sz="2150" b="1" spc="-10" dirty="0">
                <a:latin typeface="Calibri"/>
                <a:cs typeface="Calibri"/>
              </a:rPr>
              <a:t>Observations:</a:t>
            </a:r>
            <a:endParaRPr sz="2150">
              <a:latin typeface="Calibri"/>
              <a:cs typeface="Calibri"/>
            </a:endParaRPr>
          </a:p>
          <a:p>
            <a:pPr marL="819785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latin typeface="Calibri"/>
                <a:cs typeface="Calibri"/>
              </a:rPr>
              <a:t>Observation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drainage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helped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identify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issues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such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as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latin typeface="Calibri"/>
                <a:cs typeface="Calibri"/>
              </a:rPr>
              <a:t>water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blockage,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overflow,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hazardous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environments.</a:t>
            </a:r>
            <a:endParaRPr sz="2150">
              <a:latin typeface="Calibri"/>
              <a:cs typeface="Calibri"/>
            </a:endParaRPr>
          </a:p>
          <a:p>
            <a:pPr marL="756920" indent="-28638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756920" algn="l"/>
              </a:tabLst>
            </a:pPr>
            <a:r>
              <a:rPr sz="2150" b="1" dirty="0">
                <a:latin typeface="Calibri"/>
                <a:cs typeface="Calibri"/>
              </a:rPr>
              <a:t>Existing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Datasets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&amp; Literature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Review:</a:t>
            </a:r>
            <a:endParaRPr sz="2150">
              <a:latin typeface="Calibri"/>
              <a:cs typeface="Calibri"/>
            </a:endParaRPr>
          </a:p>
          <a:p>
            <a:pPr marL="756285" marR="267970" indent="63500">
              <a:lnSpc>
                <a:spcPct val="101800"/>
              </a:lnSpc>
              <a:spcBef>
                <a:spcPts val="5"/>
              </a:spcBef>
            </a:pPr>
            <a:r>
              <a:rPr sz="2150" dirty="0">
                <a:latin typeface="Calibri"/>
                <a:cs typeface="Calibri"/>
              </a:rPr>
              <a:t>Research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papers,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articles,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technical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resources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IoT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systems,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sensors,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city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technologies </a:t>
            </a:r>
            <a:r>
              <a:rPr sz="2150" dirty="0">
                <a:latin typeface="Calibri"/>
                <a:cs typeface="Calibri"/>
              </a:rPr>
              <a:t>were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studied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understand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existing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solutions.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dirty="0"/>
              <a:t>Requirement</a:t>
            </a:r>
            <a:r>
              <a:rPr spc="95" dirty="0"/>
              <a:t> </a:t>
            </a:r>
            <a:r>
              <a:rPr dirty="0"/>
              <a:t>Gathering</a:t>
            </a:r>
            <a:r>
              <a:rPr spc="50" dirty="0"/>
              <a:t> </a:t>
            </a:r>
            <a:r>
              <a:rPr dirty="0"/>
              <a:t>&amp;</a:t>
            </a:r>
            <a:r>
              <a:rPr spc="80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spc="-10" dirty="0"/>
              <a:t>Collection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258983"/>
            <a:ext cx="6613525" cy="310149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3200" b="1" dirty="0">
                <a:latin typeface="Calibri"/>
                <a:cs typeface="Calibri"/>
              </a:rPr>
              <a:t>Key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Functional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Requirements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Continuously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drains.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Detect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harmful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inside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sewer.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real-time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NodeMCU.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triggers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when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danger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levels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are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detected.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Send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notifications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via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mobile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app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email.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150" dirty="0"/>
              <a:t>Enable real-time monitoring via an IoT platform</a:t>
            </a:r>
            <a:endParaRPr sz="2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dirty="0"/>
              <a:t>Requirement</a:t>
            </a:r>
            <a:r>
              <a:rPr spc="95" dirty="0"/>
              <a:t> </a:t>
            </a:r>
            <a:r>
              <a:rPr dirty="0"/>
              <a:t>Gathering</a:t>
            </a:r>
            <a:r>
              <a:rPr spc="50" dirty="0"/>
              <a:t> </a:t>
            </a:r>
            <a:r>
              <a:rPr dirty="0"/>
              <a:t>&amp;</a:t>
            </a:r>
            <a:r>
              <a:rPr spc="80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spc="-10" dirty="0"/>
              <a:t>Collection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258983"/>
            <a:ext cx="7818755" cy="372872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3200" b="1" dirty="0">
                <a:latin typeface="Calibri"/>
                <a:cs typeface="Calibri"/>
              </a:rPr>
              <a:t>Key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Non-</a:t>
            </a:r>
            <a:r>
              <a:rPr sz="3200" b="1" dirty="0">
                <a:latin typeface="Calibri"/>
                <a:cs typeface="Calibri"/>
              </a:rPr>
              <a:t>Functional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Requirements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Reliability:</a:t>
            </a:r>
            <a:r>
              <a:rPr sz="2150" b="1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Accurate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consistent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readings.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Scalability: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expanded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multiple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locations.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Low</a:t>
            </a:r>
            <a:r>
              <a:rPr sz="2150" b="1" spc="9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Cost:</a:t>
            </a:r>
            <a:r>
              <a:rPr sz="2150" b="1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Uses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affordable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components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practical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deployment.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Energy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Efficiency:</a:t>
            </a:r>
            <a:r>
              <a:rPr sz="2150" b="1" spc="1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Low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power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consumption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continuous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sz="2150" spc="-10" dirty="0">
                <a:latin typeface="Calibri"/>
                <a:cs typeface="Calibri"/>
              </a:rPr>
              <a:t>operation.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Durability: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Hardware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should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withstand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moisture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toxic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gases.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Real-Time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Performance: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1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generated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immediately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during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2150" dirty="0">
                <a:latin typeface="Calibri"/>
                <a:cs typeface="Calibri"/>
              </a:rPr>
              <a:t>dangerous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conditions.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dirty="0"/>
              <a:t>Requirement</a:t>
            </a:r>
            <a:r>
              <a:rPr spc="95" dirty="0"/>
              <a:t> </a:t>
            </a:r>
            <a:r>
              <a:rPr dirty="0"/>
              <a:t>Gathering</a:t>
            </a:r>
            <a:r>
              <a:rPr spc="50" dirty="0"/>
              <a:t> </a:t>
            </a:r>
            <a:r>
              <a:rPr dirty="0"/>
              <a:t>&amp;</a:t>
            </a:r>
            <a:r>
              <a:rPr spc="80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spc="-10" dirty="0"/>
              <a:t>Collection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3200" dirty="0"/>
              <a:t>Challenges</a:t>
            </a:r>
            <a:r>
              <a:rPr sz="3200" spc="-55" dirty="0"/>
              <a:t> </a:t>
            </a:r>
            <a:r>
              <a:rPr sz="3200" dirty="0"/>
              <a:t>in</a:t>
            </a:r>
            <a:r>
              <a:rPr sz="3200" spc="-50" dirty="0"/>
              <a:t> </a:t>
            </a:r>
            <a:r>
              <a:rPr sz="3200" dirty="0"/>
              <a:t>Data</a:t>
            </a:r>
            <a:r>
              <a:rPr sz="3200" spc="-120" dirty="0"/>
              <a:t> </a:t>
            </a:r>
            <a:r>
              <a:rPr sz="3200" spc="-10" dirty="0"/>
              <a:t>Collection</a:t>
            </a:r>
            <a:endParaRPr sz="3200"/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Limited</a:t>
            </a:r>
            <a:r>
              <a:rPr sz="2150" spc="30" dirty="0"/>
              <a:t> </a:t>
            </a:r>
            <a:r>
              <a:rPr sz="2150" dirty="0"/>
              <a:t>Access:</a:t>
            </a:r>
            <a:r>
              <a:rPr sz="2150" spc="120" dirty="0"/>
              <a:t> </a:t>
            </a:r>
            <a:r>
              <a:rPr sz="2150" b="0" dirty="0">
                <a:latin typeface="Calibri"/>
                <a:cs typeface="Calibri"/>
              </a:rPr>
              <a:t>Sewer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areas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are</a:t>
            </a:r>
            <a:r>
              <a:rPr sz="2150" b="0" spc="5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difficult</a:t>
            </a:r>
            <a:r>
              <a:rPr sz="2150" b="0" spc="3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7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dangerous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to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access.</a:t>
            </a:r>
            <a:endParaRPr sz="2150">
              <a:latin typeface="Calibri"/>
              <a:cs typeface="Calibri"/>
            </a:endParaRPr>
          </a:p>
          <a:p>
            <a:pPr marL="355600" marR="523240" indent="-343535">
              <a:lnSpc>
                <a:spcPct val="1018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Safety</a:t>
            </a:r>
            <a:r>
              <a:rPr sz="2150" spc="-15" dirty="0"/>
              <a:t> </a:t>
            </a:r>
            <a:r>
              <a:rPr sz="2150" dirty="0"/>
              <a:t>Risks:</a:t>
            </a:r>
            <a:r>
              <a:rPr sz="2150" spc="65" dirty="0"/>
              <a:t> </a:t>
            </a:r>
            <a:r>
              <a:rPr sz="2150" b="0" spc="-20" dirty="0">
                <a:latin typeface="Calibri"/>
                <a:cs typeface="Calibri"/>
              </a:rPr>
              <a:t>Toxic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gases</a:t>
            </a:r>
            <a:r>
              <a:rPr sz="2150" b="0" spc="9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3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contaminated</a:t>
            </a:r>
            <a:r>
              <a:rPr sz="2150" b="0" spc="3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water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make</a:t>
            </a:r>
            <a:r>
              <a:rPr sz="2150" b="0" spc="1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manual </a:t>
            </a:r>
            <a:r>
              <a:rPr sz="2150" b="0" dirty="0">
                <a:latin typeface="Calibri"/>
                <a:cs typeface="Calibri"/>
              </a:rPr>
              <a:t>observation</a:t>
            </a:r>
            <a:r>
              <a:rPr sz="2150" b="0" spc="8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unsafe.</a:t>
            </a:r>
            <a:endParaRPr sz="2150">
              <a:latin typeface="Calibri"/>
              <a:cs typeface="Calibri"/>
            </a:endParaRPr>
          </a:p>
          <a:p>
            <a:pPr marL="355600" marR="5080" indent="-343535">
              <a:lnSpc>
                <a:spcPct val="104700"/>
              </a:lnSpc>
              <a:spcBef>
                <a:spcPts val="45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Lack</a:t>
            </a:r>
            <a:r>
              <a:rPr sz="2150" spc="60" dirty="0"/>
              <a:t> </a:t>
            </a:r>
            <a:r>
              <a:rPr sz="2150" dirty="0"/>
              <a:t>of</a:t>
            </a:r>
            <a:r>
              <a:rPr sz="2150" spc="50" dirty="0"/>
              <a:t> </a:t>
            </a:r>
            <a:r>
              <a:rPr sz="2150" dirty="0"/>
              <a:t>Data:</a:t>
            </a:r>
            <a:r>
              <a:rPr sz="2150" spc="65" dirty="0"/>
              <a:t> </a:t>
            </a:r>
            <a:r>
              <a:rPr sz="2150" b="0" dirty="0">
                <a:latin typeface="Calibri"/>
                <a:cs typeface="Calibri"/>
              </a:rPr>
              <a:t>Reliable</a:t>
            </a:r>
            <a:r>
              <a:rPr sz="2150" b="0" spc="10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datasets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on</a:t>
            </a:r>
            <a:r>
              <a:rPr sz="2150" b="0" spc="5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sewer</a:t>
            </a:r>
            <a:r>
              <a:rPr sz="2150" b="0" spc="6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gas</a:t>
            </a:r>
            <a:r>
              <a:rPr sz="2150" b="0" spc="114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levels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5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overflow</a:t>
            </a:r>
            <a:r>
              <a:rPr sz="2150" b="0" spc="10" dirty="0">
                <a:latin typeface="Calibri"/>
                <a:cs typeface="Calibri"/>
              </a:rPr>
              <a:t> </a:t>
            </a:r>
            <a:r>
              <a:rPr sz="2150" b="0" spc="-25" dirty="0">
                <a:latin typeface="Calibri"/>
                <a:cs typeface="Calibri"/>
              </a:rPr>
              <a:t>are </a:t>
            </a:r>
            <a:r>
              <a:rPr sz="2150" b="0" spc="-10" dirty="0">
                <a:latin typeface="Calibri"/>
                <a:cs typeface="Calibri"/>
              </a:rPr>
              <a:t>limited.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Environmental</a:t>
            </a:r>
            <a:r>
              <a:rPr sz="2150" spc="45" dirty="0"/>
              <a:t> </a:t>
            </a:r>
            <a:r>
              <a:rPr sz="2150" dirty="0"/>
              <a:t>Changes:</a:t>
            </a:r>
            <a:r>
              <a:rPr sz="2150" spc="85" dirty="0"/>
              <a:t> </a:t>
            </a:r>
            <a:r>
              <a:rPr sz="2150" b="0" dirty="0">
                <a:latin typeface="Calibri"/>
                <a:cs typeface="Calibri"/>
              </a:rPr>
              <a:t>Water</a:t>
            </a:r>
            <a:r>
              <a:rPr sz="2150" b="0" spc="5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level</a:t>
            </a:r>
            <a:r>
              <a:rPr sz="2150" b="0" spc="1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gas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concentration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spc="-25" dirty="0">
                <a:latin typeface="Calibri"/>
                <a:cs typeface="Calibri"/>
              </a:rPr>
              <a:t>can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2150" b="0" dirty="0">
                <a:latin typeface="Calibri"/>
                <a:cs typeface="Calibri"/>
              </a:rPr>
              <a:t>change</a:t>
            </a:r>
            <a:r>
              <a:rPr sz="2150" b="0" spc="7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quickly.</a:t>
            </a:r>
            <a:endParaRPr sz="2150">
              <a:latin typeface="Calibri"/>
              <a:cs typeface="Calibri"/>
            </a:endParaRPr>
          </a:p>
          <a:p>
            <a:pPr marL="355600" marR="430530" indent="-343535">
              <a:lnSpc>
                <a:spcPct val="101899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Sensor</a:t>
            </a:r>
            <a:r>
              <a:rPr sz="2150" spc="65" dirty="0"/>
              <a:t> </a:t>
            </a:r>
            <a:r>
              <a:rPr sz="2150" dirty="0"/>
              <a:t>Calibration:</a:t>
            </a:r>
            <a:r>
              <a:rPr sz="2150" spc="114" dirty="0"/>
              <a:t> </a:t>
            </a:r>
            <a:r>
              <a:rPr sz="2150" b="0" dirty="0">
                <a:latin typeface="Calibri"/>
                <a:cs typeface="Calibri"/>
              </a:rPr>
              <a:t>Sensors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need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proper</a:t>
            </a:r>
            <a:r>
              <a:rPr sz="2150" b="0" spc="-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calibration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for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accurate readings.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dirty="0"/>
              <a:t>Requirement</a:t>
            </a:r>
            <a:r>
              <a:rPr spc="95" dirty="0"/>
              <a:t> </a:t>
            </a:r>
            <a:r>
              <a:rPr dirty="0"/>
              <a:t>Gathering</a:t>
            </a:r>
            <a:r>
              <a:rPr spc="50" dirty="0"/>
              <a:t> </a:t>
            </a:r>
            <a:r>
              <a:rPr dirty="0"/>
              <a:t>&amp;</a:t>
            </a:r>
            <a:r>
              <a:rPr spc="80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spc="-10" dirty="0"/>
              <a:t>Collection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258983"/>
            <a:ext cx="7811770" cy="3996054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3200" b="1" dirty="0">
                <a:latin typeface="Calibri"/>
                <a:cs typeface="Calibri"/>
              </a:rPr>
              <a:t>Current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Status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Project</a:t>
            </a:r>
            <a:endParaRPr sz="3200" dirty="0">
              <a:latin typeface="Calibri"/>
              <a:cs typeface="Calibri"/>
            </a:endParaRPr>
          </a:p>
          <a:p>
            <a:pPr marL="355600" marR="366395" indent="-343535">
              <a:lnSpc>
                <a:spcPct val="1018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The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problem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overflow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toxic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hazards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been </a:t>
            </a:r>
            <a:r>
              <a:rPr sz="2150" spc="-10" dirty="0">
                <a:latin typeface="Calibri"/>
                <a:cs typeface="Calibri"/>
              </a:rPr>
              <a:t>studied.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design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architecture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</a:t>
            </a:r>
            <a:endParaRPr sz="215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2150" spc="-10" dirty="0">
                <a:latin typeface="Calibri"/>
                <a:cs typeface="Calibri"/>
              </a:rPr>
              <a:t>prepared.</a:t>
            </a:r>
            <a:endParaRPr sz="2150" dirty="0">
              <a:latin typeface="Calibri"/>
              <a:cs typeface="Calibri"/>
            </a:endParaRPr>
          </a:p>
          <a:p>
            <a:pPr marL="355600" marR="389890" indent="-343535">
              <a:lnSpc>
                <a:spcPct val="101899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Hardware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components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selected: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NodeMCU,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MQ-2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Sensor, </a:t>
            </a:r>
            <a:r>
              <a:rPr sz="2150" dirty="0">
                <a:latin typeface="Calibri"/>
                <a:cs typeface="Calibri"/>
              </a:rPr>
              <a:t>Water Level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Sensor.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Software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tools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identified: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Arduino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IDE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Blynk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platform.</a:t>
            </a:r>
            <a:endParaRPr sz="215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1899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Planning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completed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integration,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transmission,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and </a:t>
            </a:r>
            <a:r>
              <a:rPr sz="2150" spc="-10" dirty="0">
                <a:latin typeface="Calibri"/>
                <a:cs typeface="Calibri"/>
              </a:rPr>
              <a:t>alerts.</a:t>
            </a:r>
            <a:endParaRPr sz="2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93" rIns="0" bIns="0" rtlCol="0">
            <a:spAutoFit/>
          </a:bodyPr>
          <a:lstStyle/>
          <a:p>
            <a:pPr marL="2386965">
              <a:lnSpc>
                <a:spcPct val="100000"/>
              </a:lnSpc>
              <a:spcBef>
                <a:spcPts val="125"/>
              </a:spcBef>
            </a:pPr>
            <a:r>
              <a:rPr sz="2000" dirty="0"/>
              <a:t>Design</a:t>
            </a:r>
            <a:r>
              <a:rPr sz="2000" spc="25" dirty="0"/>
              <a:t> </a:t>
            </a:r>
            <a:r>
              <a:rPr sz="2000" spc="-20" dirty="0"/>
              <a:t>Phase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370204" y="1218818"/>
            <a:ext cx="225361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Use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Case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Diagram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A diagram of a syste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850" y="1714500"/>
            <a:ext cx="4689068" cy="42632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93" rIns="0" bIns="0" rtlCol="0">
            <a:spAutoFit/>
          </a:bodyPr>
          <a:lstStyle/>
          <a:p>
            <a:pPr marL="2386965">
              <a:lnSpc>
                <a:spcPct val="100000"/>
              </a:lnSpc>
              <a:spcBef>
                <a:spcPts val="125"/>
              </a:spcBef>
            </a:pPr>
            <a:r>
              <a:rPr sz="2000" dirty="0"/>
              <a:t>Design</a:t>
            </a:r>
            <a:r>
              <a:rPr sz="2000" spc="25" dirty="0"/>
              <a:t> </a:t>
            </a:r>
            <a:r>
              <a:rPr sz="2000" spc="-20" dirty="0"/>
              <a:t>Phase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36575" y="922083"/>
            <a:ext cx="5608955" cy="7505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Flow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Diagrams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(DFDs)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495" dirty="0">
                <a:latin typeface="Arial MT"/>
                <a:cs typeface="Arial MT"/>
              </a:rPr>
              <a:t> </a:t>
            </a:r>
            <a:r>
              <a:rPr sz="2000" b="1" dirty="0">
                <a:latin typeface="Calibri"/>
                <a:cs typeface="Calibri"/>
              </a:rPr>
              <a:t>Level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0: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view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(Context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Diagram)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A diagram of a syste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50" y="1943100"/>
            <a:ext cx="7124700" cy="44100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93" rIns="0" bIns="0" rtlCol="0">
            <a:spAutoFit/>
          </a:bodyPr>
          <a:lstStyle/>
          <a:p>
            <a:pPr marL="2386965">
              <a:lnSpc>
                <a:spcPct val="100000"/>
              </a:lnSpc>
              <a:spcBef>
                <a:spcPts val="125"/>
              </a:spcBef>
            </a:pPr>
            <a:r>
              <a:rPr sz="2000" dirty="0"/>
              <a:t>Design</a:t>
            </a:r>
            <a:r>
              <a:rPr sz="2000" spc="25" dirty="0"/>
              <a:t> </a:t>
            </a:r>
            <a:r>
              <a:rPr sz="2000" spc="-20" dirty="0"/>
              <a:t>Phase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44194" y="1046543"/>
            <a:ext cx="8056880" cy="7505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000" dirty="0">
                <a:latin typeface="Arial MT"/>
                <a:cs typeface="Arial MT"/>
              </a:rPr>
              <a:t>–  </a:t>
            </a:r>
            <a:r>
              <a:rPr sz="2000" b="1" dirty="0">
                <a:latin typeface="Calibri"/>
                <a:cs typeface="Calibri"/>
              </a:rPr>
              <a:t>DFD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Level-</a:t>
            </a:r>
            <a:r>
              <a:rPr sz="2000" b="1" dirty="0">
                <a:latin typeface="Calibri"/>
                <a:cs typeface="Calibri"/>
              </a:rPr>
              <a:t>1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Level-</a:t>
            </a:r>
            <a:r>
              <a:rPr sz="2000" b="1" dirty="0">
                <a:latin typeface="Calibri"/>
                <a:cs typeface="Calibri"/>
              </a:rPr>
              <a:t>2: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Internal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  <a:tabLst>
                <a:tab pos="4141470" algn="l"/>
              </a:tabLst>
            </a:pPr>
            <a:r>
              <a:rPr sz="2000" b="1" dirty="0">
                <a:latin typeface="Calibri"/>
                <a:cs typeface="Calibri"/>
              </a:rPr>
              <a:t>Level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1: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dirty="0">
                <a:latin typeface="Calibri"/>
                <a:cs typeface="Calibri"/>
              </a:rPr>
              <a:t>Level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2: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Detailed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A diagram of a syste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775" y="1876425"/>
            <a:ext cx="3600450" cy="4191000"/>
          </a:xfrm>
          <a:prstGeom prst="rect">
            <a:avLst/>
          </a:prstGeom>
        </p:spPr>
      </p:pic>
      <p:pic>
        <p:nvPicPr>
          <p:cNvPr id="5" name="object 5" descr="A screen shot of a computer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2075" y="1876425"/>
            <a:ext cx="3133725" cy="4191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35267"/>
            <a:ext cx="6213475" cy="61626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5570" algn="ctr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Calibri"/>
                <a:cs typeface="Calibri"/>
              </a:rPr>
              <a:t>Design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Phase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Architecture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&amp;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Tech</a:t>
            </a:r>
            <a:r>
              <a:rPr sz="2150" b="1" spc="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Stack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Architecture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(IoT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System)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Working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Flow</a:t>
            </a:r>
            <a:endParaRPr sz="2150">
              <a:latin typeface="Calibri"/>
              <a:cs typeface="Calibri"/>
            </a:endParaRPr>
          </a:p>
          <a:p>
            <a:pPr marL="355600" marR="2298065" indent="-342900">
              <a:lnSpc>
                <a:spcPts val="3229"/>
              </a:lnSpc>
              <a:spcBef>
                <a:spcPts val="145"/>
              </a:spcBef>
              <a:buFont typeface="Arial MT"/>
              <a:buChar char="•"/>
              <a:tabLst>
                <a:tab pos="394335" algn="l"/>
              </a:tabLst>
            </a:pP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gas</a:t>
            </a:r>
            <a:r>
              <a:rPr sz="2150" b="1" spc="2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leakage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and 	</a:t>
            </a:r>
            <a:r>
              <a:rPr sz="2150" b="1" dirty="0">
                <a:latin typeface="Calibri"/>
                <a:cs typeface="Calibri"/>
              </a:rPr>
              <a:t>water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level</a:t>
            </a:r>
            <a:r>
              <a:rPr sz="2150" b="1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sewer.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Microcontroller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collects</a:t>
            </a:r>
            <a:r>
              <a:rPr sz="2150" b="1" spc="110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394335">
              <a:lnSpc>
                <a:spcPct val="100000"/>
              </a:lnSpc>
              <a:spcBef>
                <a:spcPts val="575"/>
              </a:spcBef>
            </a:pPr>
            <a:r>
              <a:rPr sz="2150" b="1" dirty="0">
                <a:latin typeface="Calibri"/>
                <a:cs typeface="Calibri"/>
              </a:rPr>
              <a:t>processes</a:t>
            </a:r>
            <a:r>
              <a:rPr sz="2150" b="1" spc="7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sensor</a:t>
            </a:r>
            <a:r>
              <a:rPr sz="2150" b="1" spc="9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data</a:t>
            </a:r>
            <a:r>
              <a:rPr sz="2150" spc="-20" dirty="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  <a:p>
            <a:pPr marL="355600" marR="2305685" indent="-342900">
              <a:lnSpc>
                <a:spcPts val="3229"/>
              </a:lnSpc>
              <a:spcBef>
                <a:spcPts val="140"/>
              </a:spcBef>
              <a:buFont typeface="Arial MT"/>
              <a:buChar char="•"/>
              <a:tabLst>
                <a:tab pos="394335" algn="l"/>
              </a:tabLst>
            </a:pPr>
            <a:r>
              <a:rPr sz="2150" dirty="0">
                <a:latin typeface="Calibri"/>
                <a:cs typeface="Calibri"/>
              </a:rPr>
              <a:t>Data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cloud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server 	</a:t>
            </a:r>
            <a:r>
              <a:rPr sz="2150" b="1" dirty="0">
                <a:latin typeface="Calibri"/>
                <a:cs typeface="Calibri"/>
              </a:rPr>
              <a:t>using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IoT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communication</a:t>
            </a:r>
            <a:r>
              <a:rPr sz="2150" spc="-10" dirty="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Dashboard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displays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real-</a:t>
            </a:r>
            <a:r>
              <a:rPr sz="2150" b="1" spc="-20" dirty="0">
                <a:latin typeface="Calibri"/>
                <a:cs typeface="Calibri"/>
              </a:rPr>
              <a:t>time</a:t>
            </a:r>
            <a:endParaRPr sz="2150">
              <a:latin typeface="Calibri"/>
              <a:cs typeface="Calibri"/>
            </a:endParaRPr>
          </a:p>
          <a:p>
            <a:pPr marL="394335">
              <a:lnSpc>
                <a:spcPct val="100000"/>
              </a:lnSpc>
              <a:spcBef>
                <a:spcPts val="570"/>
              </a:spcBef>
            </a:pPr>
            <a:r>
              <a:rPr sz="2150" b="1" dirty="0">
                <a:latin typeface="Calibri"/>
                <a:cs typeface="Calibri"/>
              </a:rPr>
              <a:t>monitoring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information</a:t>
            </a:r>
            <a:r>
              <a:rPr sz="2150" spc="-10" dirty="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  <a:p>
            <a:pPr marL="355600" marR="2293620" indent="-342900">
              <a:lnSpc>
                <a:spcPts val="3229"/>
              </a:lnSpc>
              <a:spcBef>
                <a:spcPts val="35"/>
              </a:spcBef>
              <a:buFont typeface="Arial MT"/>
              <a:buChar char="•"/>
              <a:tabLst>
                <a:tab pos="394335" algn="l"/>
              </a:tabLst>
            </a:pPr>
            <a:r>
              <a:rPr sz="2150" dirty="0">
                <a:latin typeface="Calibri"/>
                <a:cs typeface="Calibri"/>
              </a:rPr>
              <a:t>If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danger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detected,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alert 	</a:t>
            </a:r>
            <a:r>
              <a:rPr sz="2150" b="1" dirty="0">
                <a:latin typeface="Calibri"/>
                <a:cs typeface="Calibri"/>
              </a:rPr>
              <a:t>notification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is</a:t>
            </a:r>
            <a:r>
              <a:rPr sz="2150" b="1" spc="114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sent</a:t>
            </a:r>
            <a:r>
              <a:rPr sz="2150" b="1" spc="-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to</a:t>
            </a:r>
            <a:r>
              <a:rPr sz="2150" b="1" spc="11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workers</a:t>
            </a:r>
            <a:r>
              <a:rPr sz="2150" spc="-10" dirty="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3" name="object 3" descr="A screen shot of a computer flowchart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4825" y="2105025"/>
            <a:ext cx="4391025" cy="4429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5" rIns="0" bIns="0" rtlCol="0">
            <a:spAutoFit/>
          </a:bodyPr>
          <a:lstStyle/>
          <a:p>
            <a:pPr marL="176212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Development</a:t>
            </a:r>
            <a:r>
              <a:rPr sz="2400" spc="-100" dirty="0"/>
              <a:t> </a:t>
            </a:r>
            <a:r>
              <a:rPr sz="2400" spc="-10" dirty="0"/>
              <a:t>Kickoff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940923"/>
            <a:ext cx="7593330" cy="320421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3200" b="1" dirty="0">
                <a:latin typeface="Calibri"/>
                <a:cs typeface="Calibri"/>
              </a:rPr>
              <a:t>Initial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Codebase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Setup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Prepare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development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monitoring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Install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Arduino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upload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code.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Configure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NodeMCU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ESP8266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board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settings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Arduino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IDE.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Install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required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libraries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sensors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connectivity.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20" dirty="0">
                <a:latin typeface="Calibri"/>
                <a:cs typeface="Calibri"/>
              </a:rPr>
              <a:t>Write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MQ-2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water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sensor.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Enable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Wi-Fi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connectivity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transmission.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20" dirty="0">
                <a:latin typeface="Calibri"/>
                <a:cs typeface="Calibri"/>
              </a:rPr>
              <a:t>Integrate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Blynk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monitoring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alerts.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5" rIns="0" bIns="0" rtlCol="0">
            <a:spAutoFit/>
          </a:bodyPr>
          <a:lstStyle/>
          <a:p>
            <a:pPr marL="1834514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SDG</a:t>
            </a:r>
            <a:r>
              <a:rPr sz="2400" spc="-40" dirty="0"/>
              <a:t> </a:t>
            </a:r>
            <a:r>
              <a:rPr sz="2400" dirty="0"/>
              <a:t>Goals</a:t>
            </a:r>
            <a:r>
              <a:rPr sz="2400" spc="-60" dirty="0"/>
              <a:t> </a:t>
            </a:r>
            <a:r>
              <a:rPr sz="2400" spc="-10" dirty="0"/>
              <a:t>Mapping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45427" y="1226883"/>
            <a:ext cx="7442200" cy="48615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88290" indent="-27559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288290" algn="l"/>
              </a:tabLst>
            </a:pPr>
            <a:r>
              <a:rPr sz="2150" b="1" dirty="0">
                <a:latin typeface="Calibri"/>
                <a:cs typeface="Calibri"/>
              </a:rPr>
              <a:t>Clean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Water</a:t>
            </a:r>
            <a:r>
              <a:rPr sz="2150" b="1" spc="3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and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Sanitation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(SDG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6)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Promotes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proper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systems.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Helps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prevent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overflow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contamination.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Supports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improved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urban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sanitation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management.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50" b="1" dirty="0">
                <a:latin typeface="Calibri"/>
                <a:cs typeface="Calibri"/>
              </a:rPr>
              <a:t>2.</a:t>
            </a:r>
            <a:r>
              <a:rPr sz="2150" b="1" spc="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Good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Health</a:t>
            </a:r>
            <a:r>
              <a:rPr sz="2150" b="1" spc="12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and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Well-Being</a:t>
            </a:r>
            <a:r>
              <a:rPr sz="2150" b="1" spc="11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(SDG</a:t>
            </a:r>
            <a:r>
              <a:rPr sz="2150" b="1" spc="135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3)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Detects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harmful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Reduces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risks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sanitation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workers.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Prevents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exposure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toxic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hazardous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environments.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50" b="1" dirty="0">
                <a:latin typeface="Calibri"/>
                <a:cs typeface="Calibri"/>
              </a:rPr>
              <a:t>3.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Sustainable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Cities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and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Communities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(SDG</a:t>
            </a:r>
            <a:r>
              <a:rPr sz="2150" b="1" spc="165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11)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Supports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city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infrastructure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through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technology.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Helps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manage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urban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drainage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efficiently.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Reduces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flooding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environmental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pollution.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5" rIns="0" bIns="0" rtlCol="0">
            <a:spAutoFit/>
          </a:bodyPr>
          <a:lstStyle/>
          <a:p>
            <a:pPr marL="1834514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SDG</a:t>
            </a:r>
            <a:r>
              <a:rPr sz="2400" spc="-40" dirty="0"/>
              <a:t> </a:t>
            </a:r>
            <a:r>
              <a:rPr sz="2400" dirty="0"/>
              <a:t>Goals</a:t>
            </a:r>
            <a:r>
              <a:rPr sz="2400" spc="-60" dirty="0"/>
              <a:t> </a:t>
            </a:r>
            <a:r>
              <a:rPr sz="2400" spc="-10" dirty="0"/>
              <a:t>Mapping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778573"/>
            <a:ext cx="8869680" cy="51384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88925" indent="-276225">
              <a:lnSpc>
                <a:spcPct val="100000"/>
              </a:lnSpc>
              <a:spcBef>
                <a:spcPts val="745"/>
              </a:spcBef>
              <a:buAutoNum type="arabicPeriod" startAt="4"/>
              <a:tabLst>
                <a:tab pos="288925" algn="l"/>
              </a:tabLst>
            </a:pPr>
            <a:r>
              <a:rPr sz="2150" b="1" dirty="0">
                <a:latin typeface="Calibri"/>
                <a:cs typeface="Calibri"/>
              </a:rPr>
              <a:t>Industry,</a:t>
            </a:r>
            <a:r>
              <a:rPr sz="2150" b="1" spc="10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Innovation</a:t>
            </a:r>
            <a:r>
              <a:rPr sz="2150" b="1" spc="11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and</a:t>
            </a:r>
            <a:r>
              <a:rPr sz="2150" b="1" spc="3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Infrastructure</a:t>
            </a:r>
            <a:r>
              <a:rPr sz="2150" b="1" spc="11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(SDG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9)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Uses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technology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infrastructure</a:t>
            </a:r>
            <a:r>
              <a:rPr sz="2150" spc="1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monitoring.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Encourages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innovation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public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safety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urban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management.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150" b="1" dirty="0">
                <a:latin typeface="Calibri"/>
                <a:cs typeface="Calibri"/>
              </a:rPr>
              <a:t>Potential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Impact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Worker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Safety:</a:t>
            </a:r>
            <a:r>
              <a:rPr sz="2150" b="1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Detects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toxic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reduces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risk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sanitation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workers.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Overflow</a:t>
            </a:r>
            <a:r>
              <a:rPr sz="2150" b="1" spc="1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Prevention: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Early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detection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rising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levels.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Real-Time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Monitoring:</a:t>
            </a:r>
            <a:r>
              <a:rPr sz="2150" b="1" spc="1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Continuous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using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technology.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Better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Sanitation: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Improves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cleanliness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safety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drainage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systems.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Smart</a:t>
            </a:r>
            <a:r>
              <a:rPr sz="2150" b="1" spc="9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City</a:t>
            </a:r>
            <a:r>
              <a:rPr sz="2150" b="1" spc="114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Support:</a:t>
            </a:r>
            <a:r>
              <a:rPr sz="2150" b="1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Helps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develop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automated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urban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infrastructure.</a:t>
            </a:r>
            <a:endParaRPr sz="2150">
              <a:latin typeface="Calibri"/>
              <a:cs typeface="Calibri"/>
            </a:endParaRPr>
          </a:p>
          <a:p>
            <a:pPr marL="355600" lvl="1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Overall</a:t>
            </a:r>
            <a:r>
              <a:rPr sz="2150" b="1" spc="8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Impact:</a:t>
            </a:r>
            <a:endParaRPr sz="2150">
              <a:latin typeface="Calibri"/>
              <a:cs typeface="Calibri"/>
            </a:endParaRPr>
          </a:p>
          <a:p>
            <a:pPr marL="419734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latin typeface="Calibri"/>
                <a:cs typeface="Calibri"/>
              </a:rPr>
              <a:t>Reduces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accidents,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improves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public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health,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makes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management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latin typeface="Calibri"/>
                <a:cs typeface="Calibri"/>
              </a:rPr>
              <a:t>safer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more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efficient.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5" rIns="0" bIns="0" rtlCol="0">
            <a:spAutoFit/>
          </a:bodyPr>
          <a:lstStyle/>
          <a:p>
            <a:pPr marL="1834514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SDG</a:t>
            </a:r>
            <a:r>
              <a:rPr sz="2400" spc="-40" dirty="0"/>
              <a:t> </a:t>
            </a:r>
            <a:r>
              <a:rPr sz="2400" dirty="0"/>
              <a:t>Goals</a:t>
            </a:r>
            <a:r>
              <a:rPr sz="2400" spc="-60" dirty="0"/>
              <a:t> </a:t>
            </a:r>
            <a:r>
              <a:rPr sz="2400" spc="-10" dirty="0"/>
              <a:t>Mapping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004766"/>
            <a:ext cx="7886700" cy="388239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600" b="1" spc="-10" dirty="0">
                <a:latin typeface="Calibri"/>
                <a:cs typeface="Calibri"/>
              </a:rPr>
              <a:t>Contribution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to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Sustainability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1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Social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Good</a:t>
            </a: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Protects</a:t>
            </a:r>
            <a:r>
              <a:rPr sz="2150" b="1" spc="2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Human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Life: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harmful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unsafe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sewer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latin typeface="Calibri"/>
                <a:cs typeface="Calibri"/>
              </a:rPr>
              <a:t>conditions.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Improves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Public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Health:</a:t>
            </a:r>
            <a:r>
              <a:rPr sz="2150" b="1" spc="1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Reduces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pollution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risks.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Sustainable</a:t>
            </a:r>
            <a:r>
              <a:rPr sz="2150" b="1" spc="1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Infrastructure:</a:t>
            </a:r>
            <a:r>
              <a:rPr sz="2150" b="1" spc="1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Enables</a:t>
            </a:r>
            <a:r>
              <a:rPr sz="2150" spc="1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continuous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IoT-based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sewer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latin typeface="Calibri"/>
                <a:cs typeface="Calibri"/>
              </a:rPr>
              <a:t>monitoring.</a:t>
            </a:r>
            <a:endParaRPr sz="2150">
              <a:latin typeface="Calibri"/>
              <a:cs typeface="Calibri"/>
            </a:endParaRPr>
          </a:p>
          <a:p>
            <a:pPr marL="355600" marR="5080" indent="-343535">
              <a:lnSpc>
                <a:spcPct val="1018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Smart</a:t>
            </a:r>
            <a:r>
              <a:rPr sz="2150" b="1" spc="7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City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Development: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Encourages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use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technologies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in </a:t>
            </a:r>
            <a:r>
              <a:rPr sz="2150" dirty="0">
                <a:latin typeface="Calibri"/>
                <a:cs typeface="Calibri"/>
              </a:rPr>
              <a:t>urban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management.</a:t>
            </a:r>
            <a:endParaRPr sz="2150">
              <a:latin typeface="Calibri"/>
              <a:cs typeface="Calibri"/>
            </a:endParaRPr>
          </a:p>
          <a:p>
            <a:pPr marL="355600" marR="120014" indent="-343535">
              <a:lnSpc>
                <a:spcPct val="1018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Environmental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Protection:</a:t>
            </a:r>
            <a:r>
              <a:rPr sz="2150" b="1" spc="1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Prevents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overflow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protects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sources.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850" rIns="0" bIns="0" rtlCol="0">
            <a:spAutoFit/>
          </a:bodyPr>
          <a:lstStyle/>
          <a:p>
            <a:pPr marL="1086485">
              <a:lnSpc>
                <a:spcPct val="100000"/>
              </a:lnSpc>
              <a:spcBef>
                <a:spcPts val="130"/>
              </a:spcBef>
            </a:pPr>
            <a:r>
              <a:rPr dirty="0"/>
              <a:t>Multidisciplinary</a:t>
            </a:r>
            <a:r>
              <a:rPr spc="30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18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006967"/>
            <a:ext cx="7929245" cy="45186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150" b="1" dirty="0">
                <a:latin typeface="Calibri"/>
                <a:cs typeface="Calibri"/>
              </a:rPr>
              <a:t>Fields</a:t>
            </a:r>
            <a:r>
              <a:rPr sz="2150" b="1" spc="10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Involved</a:t>
            </a:r>
            <a:endParaRPr sz="2150">
              <a:latin typeface="Calibri"/>
              <a:cs typeface="Calibri"/>
            </a:endParaRPr>
          </a:p>
          <a:p>
            <a:pPr marL="355600" marR="1314450" indent="-343535">
              <a:lnSpc>
                <a:spcPct val="101899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Engineering: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Hardware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development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using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1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and </a:t>
            </a:r>
            <a:r>
              <a:rPr sz="2150" spc="-10" dirty="0">
                <a:latin typeface="Calibri"/>
                <a:cs typeface="Calibri"/>
              </a:rPr>
              <a:t>microcontrollers.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Computer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Science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/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IoT:</a:t>
            </a:r>
            <a:r>
              <a:rPr sz="2150" b="1" spc="1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Programming,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communication,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integration.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Data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Science:</a:t>
            </a:r>
            <a:r>
              <a:rPr sz="2150" b="1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Analysis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performance.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AI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/</a:t>
            </a:r>
            <a:r>
              <a:rPr sz="2150" b="1" spc="1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Machine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Learning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(Future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Scope):</a:t>
            </a:r>
            <a:r>
              <a:rPr sz="2150" b="1" spc="1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Predict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overflow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latin typeface="Calibri"/>
                <a:cs typeface="Calibri"/>
              </a:rPr>
              <a:t>gas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hazards.</a:t>
            </a:r>
            <a:endParaRPr sz="2150">
              <a:latin typeface="Calibri"/>
              <a:cs typeface="Calibri"/>
            </a:endParaRPr>
          </a:p>
          <a:p>
            <a:pPr marL="355600" marR="146050" indent="-343535">
              <a:lnSpc>
                <a:spcPct val="104800"/>
              </a:lnSpc>
              <a:spcBef>
                <a:spcPts val="4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Social</a:t>
            </a:r>
            <a:r>
              <a:rPr sz="2150" b="1" spc="8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Sciences:</a:t>
            </a:r>
            <a:r>
              <a:rPr sz="2150" b="1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Improve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sanitation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worker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safety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community </a:t>
            </a:r>
            <a:r>
              <a:rPr sz="2150" dirty="0">
                <a:latin typeface="Calibri"/>
                <a:cs typeface="Calibri"/>
              </a:rPr>
              <a:t>well-</a:t>
            </a:r>
            <a:r>
              <a:rPr sz="2150" spc="-10" dirty="0">
                <a:latin typeface="Calibri"/>
                <a:cs typeface="Calibri"/>
              </a:rPr>
              <a:t>being.</a:t>
            </a:r>
            <a:endParaRPr sz="2150">
              <a:latin typeface="Calibri"/>
              <a:cs typeface="Calibri"/>
            </a:endParaRPr>
          </a:p>
          <a:p>
            <a:pPr marL="355600" marR="563880" indent="-343535">
              <a:lnSpc>
                <a:spcPct val="101899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Business</a:t>
            </a:r>
            <a:r>
              <a:rPr sz="2150" b="1" spc="1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/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Urban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Management:</a:t>
            </a:r>
            <a:r>
              <a:rPr sz="2150" b="1" spc="1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Efficient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infrastructure management.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850" rIns="0" bIns="0" rtlCol="0">
            <a:spAutoFit/>
          </a:bodyPr>
          <a:lstStyle/>
          <a:p>
            <a:pPr marL="1086485">
              <a:lnSpc>
                <a:spcPct val="100000"/>
              </a:lnSpc>
              <a:spcBef>
                <a:spcPts val="130"/>
              </a:spcBef>
            </a:pPr>
            <a:r>
              <a:rPr dirty="0"/>
              <a:t>Multidisciplinary</a:t>
            </a:r>
            <a:r>
              <a:rPr spc="30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19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pc="-40" dirty="0"/>
              <a:t>Team</a:t>
            </a:r>
            <a:r>
              <a:rPr spc="-90" dirty="0"/>
              <a:t> </a:t>
            </a:r>
            <a:r>
              <a:rPr spc="-10" dirty="0"/>
              <a:t>Collaboration</a:t>
            </a:r>
          </a:p>
          <a:p>
            <a:pPr marL="355600" indent="-3429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spc="-10" dirty="0"/>
              <a:t>Task</a:t>
            </a:r>
            <a:r>
              <a:rPr sz="2150" spc="95" dirty="0"/>
              <a:t> </a:t>
            </a:r>
            <a:r>
              <a:rPr sz="2150" dirty="0"/>
              <a:t>Distribution:</a:t>
            </a:r>
            <a:r>
              <a:rPr sz="2150" spc="140" dirty="0"/>
              <a:t> </a:t>
            </a:r>
            <a:r>
              <a:rPr sz="2150" b="0" dirty="0">
                <a:latin typeface="Calibri"/>
                <a:cs typeface="Calibri"/>
              </a:rPr>
              <a:t>Members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handle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hardware,</a:t>
            </a:r>
            <a:r>
              <a:rPr sz="2150" b="0" spc="8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coding,</a:t>
            </a:r>
            <a:r>
              <a:rPr sz="2150" b="0" spc="8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research,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2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documentation.</a:t>
            </a:r>
            <a:endParaRPr sz="2150">
              <a:latin typeface="Calibri"/>
              <a:cs typeface="Calibri"/>
            </a:endParaRPr>
          </a:p>
          <a:p>
            <a:pPr marL="355600" marR="378460" indent="-343535">
              <a:lnSpc>
                <a:spcPct val="101899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Communication:</a:t>
            </a:r>
            <a:r>
              <a:rPr sz="2150" spc="60" dirty="0"/>
              <a:t> </a:t>
            </a:r>
            <a:r>
              <a:rPr sz="2150" b="0" dirty="0">
                <a:latin typeface="Calibri"/>
                <a:cs typeface="Calibri"/>
              </a:rPr>
              <a:t>Regular</a:t>
            </a:r>
            <a:r>
              <a:rPr sz="2150" b="0" spc="7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discussions</a:t>
            </a:r>
            <a:r>
              <a:rPr sz="2150" b="0" spc="13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to</a:t>
            </a:r>
            <a:r>
              <a:rPr sz="2150" b="0" spc="6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track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progress</a:t>
            </a:r>
            <a:r>
              <a:rPr sz="2150" b="0" spc="13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share ideas.</a:t>
            </a:r>
            <a:endParaRPr sz="2150">
              <a:latin typeface="Calibri"/>
              <a:cs typeface="Calibri"/>
            </a:endParaRPr>
          </a:p>
          <a:p>
            <a:pPr marL="355600" marR="5080" indent="-343535">
              <a:lnSpc>
                <a:spcPct val="1018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Problem</a:t>
            </a:r>
            <a:r>
              <a:rPr sz="2150" spc="65" dirty="0"/>
              <a:t> </a:t>
            </a:r>
            <a:r>
              <a:rPr sz="2150" dirty="0"/>
              <a:t>Solving:</a:t>
            </a:r>
            <a:r>
              <a:rPr sz="2150" spc="80" dirty="0"/>
              <a:t> </a:t>
            </a:r>
            <a:r>
              <a:rPr sz="2150" b="0" dirty="0">
                <a:latin typeface="Calibri"/>
                <a:cs typeface="Calibri"/>
              </a:rPr>
              <a:t>Teamwork</a:t>
            </a:r>
            <a:r>
              <a:rPr sz="2150" b="0" spc="3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in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fixing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sensor,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coding,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integration issues.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Knowledge</a:t>
            </a:r>
            <a:r>
              <a:rPr sz="2150" spc="150" dirty="0"/>
              <a:t> </a:t>
            </a:r>
            <a:r>
              <a:rPr sz="2150" dirty="0"/>
              <a:t>Sharing:</a:t>
            </a:r>
            <a:r>
              <a:rPr sz="2150" spc="135" dirty="0"/>
              <a:t> </a:t>
            </a:r>
            <a:r>
              <a:rPr sz="2150" b="0" dirty="0">
                <a:latin typeface="Calibri"/>
                <a:cs typeface="Calibri"/>
              </a:rPr>
              <a:t>Members</a:t>
            </a:r>
            <a:r>
              <a:rPr sz="2150" b="0" spc="9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share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technical</a:t>
            </a:r>
            <a:r>
              <a:rPr sz="2150" b="0" spc="6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knowledge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spc="-25" dirty="0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sz="2150" b="0" spc="-10" dirty="0">
                <a:latin typeface="Calibri"/>
                <a:cs typeface="Calibri"/>
              </a:rPr>
              <a:t>research.</a:t>
            </a:r>
            <a:endParaRPr sz="2150">
              <a:latin typeface="Calibri"/>
              <a:cs typeface="Calibri"/>
            </a:endParaRPr>
          </a:p>
          <a:p>
            <a:pPr marL="355600" marR="831215" indent="-343535">
              <a:lnSpc>
                <a:spcPct val="101899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Project</a:t>
            </a:r>
            <a:r>
              <a:rPr sz="2150" spc="90" dirty="0"/>
              <a:t> </a:t>
            </a:r>
            <a:r>
              <a:rPr sz="2150" dirty="0"/>
              <a:t>Coordination:</a:t>
            </a:r>
            <a:r>
              <a:rPr sz="2150" spc="125" dirty="0"/>
              <a:t> </a:t>
            </a:r>
            <a:r>
              <a:rPr sz="2150" b="0" dirty="0">
                <a:latin typeface="Calibri"/>
                <a:cs typeface="Calibri"/>
              </a:rPr>
              <a:t>Work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together</a:t>
            </a:r>
            <a:r>
              <a:rPr sz="2150" b="0" spc="1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to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complete</a:t>
            </a:r>
            <a:r>
              <a:rPr sz="2150" b="0" spc="14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hardware, </a:t>
            </a:r>
            <a:r>
              <a:rPr sz="2150" b="0" dirty="0">
                <a:latin typeface="Calibri"/>
                <a:cs typeface="Calibri"/>
              </a:rPr>
              <a:t>software,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5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presentation</a:t>
            </a:r>
            <a:r>
              <a:rPr sz="2150" b="0" spc="5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on</a:t>
            </a:r>
            <a:r>
              <a:rPr sz="2150" b="0" spc="5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time.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850" rIns="0" bIns="0" rtlCol="0">
            <a:spAutoFit/>
          </a:bodyPr>
          <a:lstStyle/>
          <a:p>
            <a:pPr marL="1086485">
              <a:lnSpc>
                <a:spcPct val="100000"/>
              </a:lnSpc>
              <a:spcBef>
                <a:spcPts val="130"/>
              </a:spcBef>
            </a:pPr>
            <a:r>
              <a:rPr dirty="0"/>
              <a:t>Multidisciplinary</a:t>
            </a:r>
            <a:r>
              <a:rPr spc="30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20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286808"/>
            <a:ext cx="7975600" cy="461708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600" b="1" spc="-10" dirty="0">
                <a:latin typeface="Calibri"/>
                <a:cs typeface="Calibri"/>
              </a:rPr>
              <a:t>Interdisciplinary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Innovation</a:t>
            </a: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Combines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multiple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fields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create</a:t>
            </a:r>
            <a:r>
              <a:rPr sz="2150" spc="1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monitoring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latin typeface="Calibri"/>
                <a:cs typeface="Calibri"/>
              </a:rPr>
              <a:t>solution.</a:t>
            </a:r>
            <a:endParaRPr sz="2150">
              <a:latin typeface="Calibri"/>
              <a:cs typeface="Calibri"/>
            </a:endParaRPr>
          </a:p>
          <a:p>
            <a:pPr marL="355600" marR="455930" indent="-343535">
              <a:lnSpc>
                <a:spcPct val="101899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Engineering &amp;</a:t>
            </a:r>
            <a:r>
              <a:rPr sz="2150" b="1" spc="114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IoT:</a:t>
            </a:r>
            <a:r>
              <a:rPr sz="2150" b="1" spc="1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microcontrollers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water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gas.</a:t>
            </a:r>
            <a:endParaRPr sz="2150">
              <a:latin typeface="Calibri"/>
              <a:cs typeface="Calibri"/>
            </a:endParaRPr>
          </a:p>
          <a:p>
            <a:pPr marL="355600" marR="5080" indent="-343535">
              <a:lnSpc>
                <a:spcPct val="1018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Computer</a:t>
            </a:r>
            <a:r>
              <a:rPr sz="2150" b="1" spc="114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Science:</a:t>
            </a:r>
            <a:r>
              <a:rPr sz="2150" b="1" spc="1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Programming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enables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 processing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real-</a:t>
            </a:r>
            <a:r>
              <a:rPr sz="2150" dirty="0">
                <a:latin typeface="Calibri"/>
                <a:cs typeface="Calibri"/>
              </a:rPr>
              <a:t>time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alerts.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Data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Science: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analyzed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better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monitoring.</a:t>
            </a:r>
            <a:endParaRPr sz="2150">
              <a:latin typeface="Calibri"/>
              <a:cs typeface="Calibri"/>
            </a:endParaRPr>
          </a:p>
          <a:p>
            <a:pPr marL="355600" marR="803275" indent="-343535">
              <a:lnSpc>
                <a:spcPct val="101899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Environmental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Science:</a:t>
            </a:r>
            <a:r>
              <a:rPr sz="2150" b="1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Helps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reduce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pollution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improve sanitation.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Social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Impact: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Enhances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safety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sanitation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workers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urban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2150" spc="-10" dirty="0">
                <a:latin typeface="Calibri"/>
                <a:cs typeface="Calibri"/>
              </a:rPr>
              <a:t>infrastructure.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7310" y="149224"/>
            <a:ext cx="226822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0" dirty="0">
                <a:latin typeface="Calibri"/>
                <a:cs typeface="Calibri"/>
              </a:rPr>
              <a:t>Novelty</a:t>
            </a:r>
            <a:r>
              <a:rPr sz="3000" b="0" spc="-70" dirty="0">
                <a:latin typeface="Calibri"/>
                <a:cs typeface="Calibri"/>
              </a:rPr>
              <a:t> </a:t>
            </a:r>
            <a:r>
              <a:rPr sz="3000" b="0" spc="-10" dirty="0">
                <a:latin typeface="Calibri"/>
                <a:cs typeface="Calibri"/>
              </a:rPr>
              <a:t>Factor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02247" y="890624"/>
            <a:ext cx="8298180" cy="52057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150" b="1" dirty="0">
                <a:latin typeface="Calibri"/>
                <a:cs typeface="Calibri"/>
              </a:rPr>
              <a:t>What</a:t>
            </a:r>
            <a:r>
              <a:rPr sz="2150" b="1" spc="-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Makes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This</a:t>
            </a:r>
            <a:r>
              <a:rPr sz="2150" b="1" spc="12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Project</a:t>
            </a:r>
            <a:r>
              <a:rPr sz="2150" b="1" spc="8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Unique?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Combines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detection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single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Provides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real-time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through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mobile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application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email.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Designed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low-cost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solution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urban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safety.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50" b="1" dirty="0">
                <a:latin typeface="Calibri"/>
                <a:cs typeface="Calibri"/>
              </a:rPr>
              <a:t>Comparison</a:t>
            </a:r>
            <a:r>
              <a:rPr sz="2150" b="1" spc="9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with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Existing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Solutions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Traditional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rely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manual </a:t>
            </a:r>
            <a:r>
              <a:rPr sz="2150" spc="-10" dirty="0">
                <a:latin typeface="Calibri"/>
                <a:cs typeface="Calibri"/>
              </a:rPr>
              <a:t>inspection.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Existing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often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only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overflow.</a:t>
            </a:r>
            <a:endParaRPr sz="2150">
              <a:latin typeface="Calibri"/>
              <a:cs typeface="Calibri"/>
            </a:endParaRPr>
          </a:p>
          <a:p>
            <a:pPr marL="355600" marR="984250" indent="-343535">
              <a:lnSpc>
                <a:spcPct val="1018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Our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detects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both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hazardous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gases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rise </a:t>
            </a:r>
            <a:r>
              <a:rPr sz="2150" spc="-10" dirty="0">
                <a:latin typeface="Calibri"/>
                <a:cs typeface="Calibri"/>
              </a:rPr>
              <a:t>simultaneously.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150" b="1" dirty="0">
                <a:latin typeface="Calibri"/>
                <a:cs typeface="Calibri"/>
              </a:rPr>
              <a:t>Innovation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</a:t>
            </a:r>
            <a:r>
              <a:rPr sz="2150" b="1" spc="13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Approach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Integration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IoT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technology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environmental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sensors.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Automated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early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hazard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detection.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Scalable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design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suitable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city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infrastructure.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3520">
              <a:lnSpc>
                <a:spcPct val="100000"/>
              </a:lnSpc>
              <a:spcBef>
                <a:spcPts val="105"/>
              </a:spcBef>
            </a:pPr>
            <a:r>
              <a:rPr sz="3000" b="0" dirty="0">
                <a:latin typeface="Calibri"/>
                <a:cs typeface="Calibri"/>
              </a:rPr>
              <a:t>Challenges</a:t>
            </a:r>
            <a:r>
              <a:rPr sz="3000" b="0" spc="-30" dirty="0">
                <a:latin typeface="Calibri"/>
                <a:cs typeface="Calibri"/>
              </a:rPr>
              <a:t> </a:t>
            </a:r>
            <a:r>
              <a:rPr sz="3000" b="0" dirty="0">
                <a:latin typeface="Calibri"/>
                <a:cs typeface="Calibri"/>
              </a:rPr>
              <a:t>and</a:t>
            </a:r>
            <a:r>
              <a:rPr sz="3000" b="0" spc="-60" dirty="0">
                <a:latin typeface="Calibri"/>
                <a:cs typeface="Calibri"/>
              </a:rPr>
              <a:t> </a:t>
            </a:r>
            <a:r>
              <a:rPr sz="3000" b="0" spc="-20" dirty="0">
                <a:latin typeface="Calibri"/>
                <a:cs typeface="Calibri"/>
              </a:rPr>
              <a:t>Risks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43840" y="932878"/>
            <a:ext cx="8111490" cy="245808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150" b="1" dirty="0">
                <a:latin typeface="Calibri"/>
                <a:cs typeface="Calibri"/>
              </a:rPr>
              <a:t>Key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Challenges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Faced</a:t>
            </a:r>
            <a:r>
              <a:rPr sz="2150" b="1" spc="1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So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Far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Accurate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measurement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sewer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conditions.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Proper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calibration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reliable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detection.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Integrating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NodeMCU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ensuring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stable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connections.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Maintaining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reliable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WiFi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connectivity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real-time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alerts.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150" b="1" dirty="0">
                <a:latin typeface="Calibri"/>
                <a:cs typeface="Calibri"/>
              </a:rPr>
              <a:t>Identified</a:t>
            </a:r>
            <a:r>
              <a:rPr sz="2150" b="1" spc="1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Risks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&amp;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Mitigation</a:t>
            </a:r>
            <a:r>
              <a:rPr sz="2150" b="1" spc="13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Strategies</a:t>
            </a:r>
            <a:endParaRPr sz="215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7012" y="3787078"/>
          <a:ext cx="8068945" cy="2538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409575" algn="ctr">
                        <a:lnSpc>
                          <a:spcPts val="2330"/>
                        </a:lnSpc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Risk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8170">
                        <a:lnSpc>
                          <a:spcPts val="233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Mitigation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Strategy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317500" indent="-285750">
                        <a:lnSpc>
                          <a:spcPct val="100000"/>
                        </a:lnSpc>
                        <a:spcBef>
                          <a:spcPts val="555"/>
                        </a:spcBef>
                        <a:buFont typeface="Arial MT"/>
                        <a:buChar char="•"/>
                        <a:tabLst>
                          <a:tab pos="31750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Incorrect</a:t>
                      </a:r>
                      <a:r>
                        <a:rPr sz="20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sensor</a:t>
                      </a:r>
                      <a:r>
                        <a:rPr sz="20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readings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 marL="847725" indent="-285750">
                        <a:lnSpc>
                          <a:spcPct val="100000"/>
                        </a:lnSpc>
                        <a:spcBef>
                          <a:spcPts val="555"/>
                        </a:spcBef>
                        <a:buFont typeface="Wingdings"/>
                        <a:buChar char=""/>
                        <a:tabLst>
                          <a:tab pos="847725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Regular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calibration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testing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317500" indent="-285750">
                        <a:lnSpc>
                          <a:spcPct val="100000"/>
                        </a:lnSpc>
                        <a:spcBef>
                          <a:spcPts val="555"/>
                        </a:spcBef>
                        <a:buFont typeface="Arial MT"/>
                        <a:buChar char="•"/>
                        <a:tabLst>
                          <a:tab pos="31750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Network/WiFi</a:t>
                      </a:r>
                      <a:r>
                        <a:rPr sz="20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failure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 marL="847725" indent="-285750">
                        <a:lnSpc>
                          <a:spcPct val="100000"/>
                        </a:lnSpc>
                        <a:spcBef>
                          <a:spcPts val="555"/>
                        </a:spcBef>
                        <a:buFont typeface="Wingdings"/>
                        <a:buChar char=""/>
                        <a:tabLst>
                          <a:tab pos="847725" algn="l"/>
                        </a:tabLst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Store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locally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retry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alerts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 marL="317500" indent="-285750">
                        <a:lnSpc>
                          <a:spcPct val="100000"/>
                        </a:lnSpc>
                        <a:spcBef>
                          <a:spcPts val="555"/>
                        </a:spcBef>
                        <a:buFont typeface="Arial MT"/>
                        <a:buChar char="•"/>
                        <a:tabLst>
                          <a:tab pos="31750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Harsh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sewer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environment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 marL="847090" indent="-285115">
                        <a:lnSpc>
                          <a:spcPct val="100000"/>
                        </a:lnSpc>
                        <a:spcBef>
                          <a:spcPts val="555"/>
                        </a:spcBef>
                        <a:buFont typeface="Wingdings"/>
                        <a:buChar char=""/>
                        <a:tabLst>
                          <a:tab pos="84709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20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protective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casing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sensors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marL="317500" indent="-285750">
                        <a:lnSpc>
                          <a:spcPct val="100000"/>
                        </a:lnSpc>
                        <a:spcBef>
                          <a:spcPts val="1864"/>
                        </a:spcBef>
                        <a:buFont typeface="Arial MT"/>
                        <a:buChar char="•"/>
                        <a:tabLst>
                          <a:tab pos="31750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supply</a:t>
                      </a:r>
                      <a:r>
                        <a:rPr sz="20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interruption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6854" marB="0"/>
                </a:tc>
                <a:tc>
                  <a:txBody>
                    <a:bodyPr/>
                    <a:lstStyle/>
                    <a:p>
                      <a:pPr marL="847090" indent="-285115">
                        <a:lnSpc>
                          <a:spcPct val="100000"/>
                        </a:lnSpc>
                        <a:spcBef>
                          <a:spcPts val="660"/>
                        </a:spcBef>
                        <a:buFont typeface="Wingdings"/>
                        <a:buChar char=""/>
                        <a:tabLst>
                          <a:tab pos="84709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stable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backup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8477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battery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38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63140">
              <a:lnSpc>
                <a:spcPct val="100000"/>
              </a:lnSpc>
              <a:spcBef>
                <a:spcPts val="105"/>
              </a:spcBef>
            </a:pPr>
            <a:r>
              <a:rPr sz="3000" b="0" dirty="0">
                <a:latin typeface="Calibri"/>
                <a:cs typeface="Calibri"/>
              </a:rPr>
              <a:t>Next</a:t>
            </a:r>
            <a:r>
              <a:rPr sz="3000" b="0" spc="-50" dirty="0">
                <a:latin typeface="Calibri"/>
                <a:cs typeface="Calibri"/>
              </a:rPr>
              <a:t> </a:t>
            </a:r>
            <a:r>
              <a:rPr sz="3000" b="0" spc="-10" dirty="0">
                <a:latin typeface="Calibri"/>
                <a:cs typeface="Calibri"/>
              </a:rPr>
              <a:t>Steps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7659" y="1100391"/>
            <a:ext cx="6953884" cy="365950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Finalizing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Design</a:t>
            </a:r>
            <a:r>
              <a:rPr sz="2150" b="1" spc="1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Phase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Complete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architecture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hardware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connections.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Confirm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selection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NodeMCU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configuration.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Define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threshold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values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water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detection.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Early</a:t>
            </a:r>
            <a:r>
              <a:rPr sz="2150" b="1" spc="10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Development</a:t>
            </a:r>
            <a:r>
              <a:rPr sz="2150" b="1" spc="8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&amp;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Testing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Develop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upload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software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code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NodeMCU.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Integrate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mobile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application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email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system.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Perform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initial testing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functionality.</a:t>
            </a: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Verify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performance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under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different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conditions.</a:t>
            </a:r>
            <a:endParaRPr sz="2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3495" y="204799"/>
            <a:ext cx="662495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/>
              <a:t>Project Implementation – Testing &amp; Configuration</a:t>
            </a:r>
            <a:endParaRPr sz="2000" spc="-10" dirty="0"/>
          </a:p>
        </p:txBody>
      </p:sp>
      <p:pic>
        <p:nvPicPr>
          <p:cNvPr id="3" name="object 3" descr="A screen 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575" y="1100704"/>
            <a:ext cx="3494063" cy="38545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3/12/2026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24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01853-5B3C-DF72-481B-44B48F13526A}"/>
              </a:ext>
            </a:extLst>
          </p:cNvPr>
          <p:cNvSpPr txBox="1"/>
          <p:nvPr/>
        </p:nvSpPr>
        <p:spPr>
          <a:xfrm>
            <a:off x="5085803" y="5115580"/>
            <a:ext cx="3494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Blynk and WiFi Configuration in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NodeMCU Program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801431-2D6E-A8B0-40AF-EE8FA9E65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419" y="1097655"/>
            <a:ext cx="3494063" cy="38576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961D6E-B4A4-6194-3740-6B610F8BA560}"/>
              </a:ext>
            </a:extLst>
          </p:cNvPr>
          <p:cNvSpPr txBox="1"/>
          <p:nvPr/>
        </p:nvSpPr>
        <p:spPr>
          <a:xfrm>
            <a:off x="536575" y="5175293"/>
            <a:ext cx="3494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Serial Monitor Output Showing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Distance Measurement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F6C2-31B3-5ED4-26F6-F390655B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311"/>
            <a:ext cx="6161722" cy="307777"/>
          </a:xfrm>
        </p:spPr>
        <p:txBody>
          <a:bodyPr/>
          <a:lstStyle/>
          <a:p>
            <a:r>
              <a:rPr lang="en-IN" sz="2000" dirty="0"/>
              <a:t>Hardware Implementation – Sensor &amp; Circuit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C1E65-DC74-A04E-A37F-6BAF36C85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87578"/>
            <a:ext cx="3305770" cy="4482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564C00-4451-3305-A945-F349C41D3C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230" y="1187577"/>
            <a:ext cx="3305770" cy="4482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E273F3-66E3-94A1-44E7-C9270A346E45}"/>
              </a:ext>
            </a:extLst>
          </p:cNvPr>
          <p:cNvSpPr txBox="1"/>
          <p:nvPr/>
        </p:nvSpPr>
        <p:spPr>
          <a:xfrm>
            <a:off x="5076230" y="5877580"/>
            <a:ext cx="3305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Figure 4: Internal Circuit Connections Using NodeMCU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D3176-6A72-657A-7586-DF61A94C74DF}"/>
              </a:ext>
            </a:extLst>
          </p:cNvPr>
          <p:cNvSpPr txBox="1"/>
          <p:nvPr/>
        </p:nvSpPr>
        <p:spPr>
          <a:xfrm>
            <a:off x="762000" y="5877580"/>
            <a:ext cx="3305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Figure 3: Ultrasonic and Gas Sensor Module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84800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DE501-85D9-6DC7-C733-AAA38360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6161722" cy="307777"/>
          </a:xfrm>
        </p:spPr>
        <p:txBody>
          <a:bodyPr/>
          <a:lstStyle/>
          <a:p>
            <a:r>
              <a:rPr lang="en-US" sz="2000" dirty="0"/>
              <a:t>Final Output – Real-Time Monitoring System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B47316-C9C9-71CD-9265-9D510E062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09700"/>
            <a:ext cx="2971800" cy="32791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C3DE3E-A9AC-5C5F-C544-369E7C2F04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948" y="1409699"/>
            <a:ext cx="3850452" cy="3279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D44222-FD9F-470C-E64F-4E48FE0D28A0}"/>
              </a:ext>
            </a:extLst>
          </p:cNvPr>
          <p:cNvSpPr txBox="1"/>
          <p:nvPr/>
        </p:nvSpPr>
        <p:spPr>
          <a:xfrm>
            <a:off x="609600" y="5016549"/>
            <a:ext cx="297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Figure 5: Mobile App Showing Real-Time Water and Gas Levels</a:t>
            </a:r>
            <a:endParaRPr lang="en-IN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E00CD8-FF7D-0CF4-50E7-FDC2C779A25A}"/>
              </a:ext>
            </a:extLst>
          </p:cNvPr>
          <p:cNvSpPr txBox="1"/>
          <p:nvPr/>
        </p:nvSpPr>
        <p:spPr>
          <a:xfrm>
            <a:off x="4683948" y="5088303"/>
            <a:ext cx="38504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Figure 6: Complete System Integration and Testing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083880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1653</Words>
  <Application>Microsoft Office PowerPoint</Application>
  <PresentationFormat>On-screen Show (4:3)</PresentationFormat>
  <Paragraphs>283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MT</vt:lpstr>
      <vt:lpstr>Calibri</vt:lpstr>
      <vt:lpstr>Times New Roman</vt:lpstr>
      <vt:lpstr>Trebuchet MS</vt:lpstr>
      <vt:lpstr>Wingdings</vt:lpstr>
      <vt:lpstr>Office Theme</vt:lpstr>
      <vt:lpstr>Integrated Project–II | Progress Review –2</vt:lpstr>
      <vt:lpstr>Agenda</vt:lpstr>
      <vt:lpstr>Project Overview</vt:lpstr>
      <vt:lpstr>Project Overview</vt:lpstr>
      <vt:lpstr>Requirement Gathering &amp; Data Collection</vt:lpstr>
      <vt:lpstr>Requirement Gathering &amp; Data Collection</vt:lpstr>
      <vt:lpstr>Requirement Gathering &amp; Data Collection</vt:lpstr>
      <vt:lpstr>Requirement Gathering &amp; Data Collection</vt:lpstr>
      <vt:lpstr>Requirement Gathering &amp; Data Collection</vt:lpstr>
      <vt:lpstr>Design Phase</vt:lpstr>
      <vt:lpstr>Design Phase</vt:lpstr>
      <vt:lpstr>Design Phase</vt:lpstr>
      <vt:lpstr>PowerPoint Presentation</vt:lpstr>
      <vt:lpstr>Development Kickoff</vt:lpstr>
      <vt:lpstr>SDG Goals Mapping</vt:lpstr>
      <vt:lpstr>SDG Goals Mapping</vt:lpstr>
      <vt:lpstr>SDG Goals Mapping</vt:lpstr>
      <vt:lpstr>Multidisciplinary Approach</vt:lpstr>
      <vt:lpstr>Multidisciplinary Approach</vt:lpstr>
      <vt:lpstr>Multidisciplinary Approach</vt:lpstr>
      <vt:lpstr>Novelty Factor</vt:lpstr>
      <vt:lpstr>Challenges and Risks</vt:lpstr>
      <vt:lpstr>Next Steps</vt:lpstr>
      <vt:lpstr>Project Implementation – Testing &amp; Configuration</vt:lpstr>
      <vt:lpstr>Hardware Implementation – Sensor &amp; Circuit Setup</vt:lpstr>
      <vt:lpstr>Final Output – Real-Time Monitoring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 jindal</dc:creator>
  <cp:lastModifiedBy>krish jindal</cp:lastModifiedBy>
  <cp:revision>2</cp:revision>
  <dcterms:created xsi:type="dcterms:W3CDTF">2026-05-05T16:51:56Z</dcterms:created>
  <dcterms:modified xsi:type="dcterms:W3CDTF">2026-05-06T04:25:32Z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2026-03-12T00:00:00Z</vt:filetime>
  </property>
  <property fmtid="{D5CDD505-2E9C-101B-9397-08002B2CF9AE}" pid="4" name="LastSaved">
    <vt:filetime>2026-05-05T00:00:00Z</vt:filetime>
  </property>
</Properties>
</file>